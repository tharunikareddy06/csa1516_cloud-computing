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5129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topic. Replace the [Name] and [Register Number]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serverless in one sentence, then state the three objectives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in order, using the short explanation under each one. Close with the key concept: you write and deploy code, the cloud handles everything underneath.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 request from the user down through the API Gateway to the Lambda function, which reads or writes the database and cloud storage. Then go through the four components on the right.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each advantage briefly. Stress pay-as-you-use: you are charged only while the function runs.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main use cases, then explain why industry adopts serverless: faster delivery with no servers to maintain.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image-upload scenario to make the idea concrete: the upload is the event, Lambda is triggered automatically, and the processed image is stored 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conclusions, then end on the key takeaway.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10/8/2026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113505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9925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8301823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7737356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0924100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0223260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730790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5728188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8525685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10/8/2026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09027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751665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370190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93784586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10/8/2026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5112748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3980500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9945011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r>
              <a:rPr lang="en-US"/>
              <a:t>Sample footer text</a:t>
            </a:r>
            <a:endParaRPr lang="en-US" dirty="0"/>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4367478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0133990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4224908033"/>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903704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47389232"/>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3518339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1882497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928870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4886091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8147888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50696938"/>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18656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657182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Lst>
  <p:hf sldNum="0" hdr="0" ftr="0" dt="0"/>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title"/>
          </p:nvPr>
        </p:nvSpPr>
        <p:spPr>
          <a:xfrm>
            <a:off x="728949" y="1902460"/>
            <a:ext cx="10883392" cy="772160"/>
          </a:xfrm>
          <a:prstGeom prst="rect">
            <a:avLst/>
          </a:prstGeom>
          <a:noFill/>
          <a:ln/>
        </p:spPr>
        <p:txBody>
          <a:bodyPr wrap="square" lIns="0" tIns="0" rIns="0" bIns="0" rtlCol="0" anchor="t">
            <a:noAutofit/>
          </a:bodyPr>
          <a:lstStyle/>
          <a:p>
            <a:pPr algn="ctr"/>
            <a:r>
              <a:rPr lang="en-IN" sz="3200" dirty="0"/>
              <a:t>Serverless Computing – Reducing Infrastructure Management in the Cloud</a:t>
            </a:r>
            <a:endParaRPr lang="en-US" sz="3200" dirty="0">
              <a:solidFill>
                <a:schemeClr val="tx1"/>
              </a:solidFill>
            </a:endParaRPr>
          </a:p>
        </p:txBody>
      </p:sp>
      <p:sp>
        <p:nvSpPr>
          <p:cNvPr id="5" name="Text 3"/>
          <p:cNvSpPr/>
          <p:nvPr/>
        </p:nvSpPr>
        <p:spPr>
          <a:xfrm>
            <a:off x="812800" y="5389880"/>
            <a:ext cx="3143380" cy="309880"/>
          </a:xfrm>
          <a:prstGeom prst="rect">
            <a:avLst/>
          </a:prstGeom>
          <a:noFill/>
          <a:ln/>
        </p:spPr>
        <p:txBody>
          <a:bodyPr wrap="square" lIns="0" tIns="0" rIns="0" bIns="0" rtlCol="0" anchor="t">
            <a:noAutofit/>
          </a:bodyPr>
          <a:lstStyle/>
          <a:p>
            <a:pPr marL="0" indent="0" algn="l">
              <a:lnSpc>
                <a:spcPts val="2520"/>
              </a:lnSpc>
              <a:buNone/>
            </a:pPr>
            <a:r>
              <a:rPr lang="en-US" b="1" dirty="0">
                <a:latin typeface="Arial" pitchFamily="34" charset="0"/>
                <a:ea typeface="Arial" pitchFamily="34" charset="-122"/>
                <a:cs typeface="Arial" pitchFamily="34" charset="-120"/>
              </a:rPr>
              <a:t>Presented By</a:t>
            </a:r>
          </a:p>
          <a:p>
            <a:pPr marL="0" indent="0" algn="l">
              <a:lnSpc>
                <a:spcPts val="2520"/>
              </a:lnSpc>
              <a:buNone/>
            </a:pPr>
            <a:r>
              <a:rPr lang="en-US" b="1" dirty="0">
                <a:latin typeface="Arial" pitchFamily="34" charset="0"/>
                <a:ea typeface="Arial" pitchFamily="34" charset="-122"/>
                <a:cs typeface="Arial" pitchFamily="34" charset="-120"/>
              </a:rPr>
              <a:t>Name: Ch. Tharunika Reddy</a:t>
            </a:r>
            <a:endParaRPr lang="en-US" dirty="0"/>
          </a:p>
        </p:txBody>
      </p:sp>
      <p:sp>
        <p:nvSpPr>
          <p:cNvPr id="6" name="Text 4"/>
          <p:cNvSpPr/>
          <p:nvPr/>
        </p:nvSpPr>
        <p:spPr>
          <a:xfrm>
            <a:off x="812800" y="6070600"/>
            <a:ext cx="1978533" cy="309880"/>
          </a:xfrm>
          <a:prstGeom prst="rect">
            <a:avLst/>
          </a:prstGeom>
          <a:noFill/>
          <a:ln/>
        </p:spPr>
        <p:txBody>
          <a:bodyPr wrap="square" lIns="0" tIns="0" rIns="0" bIns="0" rtlCol="0" anchor="t">
            <a:normAutofit/>
          </a:bodyPr>
          <a:lstStyle/>
          <a:p>
            <a:pPr marL="0" indent="0" algn="l">
              <a:lnSpc>
                <a:spcPts val="2240"/>
              </a:lnSpc>
              <a:buNone/>
            </a:pPr>
            <a:r>
              <a:rPr lang="en-US" b="1" dirty="0">
                <a:latin typeface="Arial" panose="020B0604020202020204" pitchFamily="34" charset="0"/>
                <a:cs typeface="Arial" panose="020B0604020202020204" pitchFamily="34" charset="0"/>
              </a:rPr>
              <a:t>Regno:192324307</a:t>
            </a:r>
          </a:p>
        </p:txBody>
      </p:sp>
      <p:sp>
        <p:nvSpPr>
          <p:cNvPr id="7" name="Text 5"/>
          <p:cNvSpPr/>
          <p:nvPr/>
        </p:nvSpPr>
        <p:spPr>
          <a:xfrm>
            <a:off x="6065964" y="5425440"/>
            <a:ext cx="5313236" cy="309880"/>
          </a:xfrm>
          <a:prstGeom prst="rect">
            <a:avLst/>
          </a:prstGeom>
          <a:noFill/>
          <a:ln/>
        </p:spPr>
        <p:txBody>
          <a:bodyPr wrap="square" lIns="0" tIns="0" rIns="0" bIns="0" rtlCol="0" anchor="t">
            <a:normAutofit/>
          </a:bodyPr>
          <a:lstStyle/>
          <a:p>
            <a:pPr marL="0" indent="0" algn="r">
              <a:lnSpc>
                <a:spcPts val="2240"/>
              </a:lnSpc>
              <a:buNone/>
            </a:pPr>
            <a:r>
              <a:rPr lang="en-US" sz="1600" b="1" dirty="0">
                <a:latin typeface="Arial" pitchFamily="34" charset="0"/>
                <a:ea typeface="Arial" pitchFamily="34" charset="-122"/>
                <a:cs typeface="Arial" pitchFamily="34" charset="-120"/>
              </a:rPr>
              <a:t>Course: Cloud Computing and Big Data Analytics</a:t>
            </a:r>
            <a:endParaRPr lang="en-US" sz="1600" b="1" dirty="0"/>
          </a:p>
        </p:txBody>
      </p:sp>
      <p:sp>
        <p:nvSpPr>
          <p:cNvPr id="8" name="Text 6"/>
          <p:cNvSpPr/>
          <p:nvPr/>
        </p:nvSpPr>
        <p:spPr>
          <a:xfrm>
            <a:off x="6818673" y="5760720"/>
            <a:ext cx="4560527" cy="309880"/>
          </a:xfrm>
          <a:prstGeom prst="rect">
            <a:avLst/>
          </a:prstGeom>
          <a:noFill/>
          <a:ln/>
        </p:spPr>
        <p:txBody>
          <a:bodyPr wrap="square" lIns="0" tIns="0" rIns="0" bIns="0" rtlCol="0" anchor="t">
            <a:normAutofit/>
          </a:bodyPr>
          <a:lstStyle/>
          <a:p>
            <a:pPr marL="0" indent="0" algn="r">
              <a:lnSpc>
                <a:spcPts val="2240"/>
              </a:lnSpc>
              <a:buNone/>
            </a:pPr>
            <a:r>
              <a:rPr lang="en-US" sz="1600" b="1" dirty="0">
                <a:latin typeface="Arial" pitchFamily="34" charset="0"/>
                <a:ea typeface="Arial" pitchFamily="34" charset="-122"/>
                <a:cs typeface="Arial" pitchFamily="34" charset="-120"/>
              </a:rPr>
              <a:t>Course Code: CSA15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Arial" pitchFamily="34" charset="0"/>
                <a:ea typeface="Arial" pitchFamily="34" charset="-122"/>
                <a:cs typeface="Arial" pitchFamily="34" charset="-120"/>
              </a:rPr>
              <a:t>What is serverless computing?</a:t>
            </a:r>
            <a:endParaRPr lang="en-US" sz="3600" dirty="0"/>
          </a:p>
        </p:txBody>
      </p:sp>
      <p:sp>
        <p:nvSpPr>
          <p:cNvPr id="3" name="Shape 1"/>
          <p:cNvSpPr/>
          <p:nvPr/>
        </p:nvSpPr>
        <p:spPr>
          <a:xfrm>
            <a:off x="819150" y="1626870"/>
            <a:ext cx="5179060" cy="4411980"/>
          </a:xfrm>
          <a:prstGeom prst="roundRect">
            <a:avLst>
              <a:gd name="adj" fmla="val 3310"/>
            </a:avLst>
          </a:prstGeom>
          <a:solidFill>
            <a:schemeClr val="bg1"/>
          </a:solidFill>
          <a:ln w="12700">
            <a:solidFill>
              <a:srgbClr val="DDD9CC"/>
            </a:solidFill>
            <a:prstDash val="solid"/>
          </a:ln>
        </p:spPr>
      </p:sp>
      <p:sp>
        <p:nvSpPr>
          <p:cNvPr id="4" name="Text 2"/>
          <p:cNvSpPr/>
          <p:nvPr/>
        </p:nvSpPr>
        <p:spPr>
          <a:xfrm>
            <a:off x="1127760" y="1935480"/>
            <a:ext cx="46986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6FED"/>
                </a:solidFill>
                <a:latin typeface="Arial" pitchFamily="34" charset="0"/>
                <a:ea typeface="Arial" pitchFamily="34" charset="-122"/>
                <a:cs typeface="Arial" pitchFamily="34" charset="-120"/>
              </a:rPr>
              <a:t>Introduction</a:t>
            </a:r>
            <a:endParaRPr lang="en-US" sz="1800" dirty="0"/>
          </a:p>
        </p:txBody>
      </p:sp>
      <p:sp>
        <p:nvSpPr>
          <p:cNvPr id="5" name="Text 3"/>
          <p:cNvSpPr/>
          <p:nvPr/>
        </p:nvSpPr>
        <p:spPr>
          <a:xfrm>
            <a:off x="1197356" y="2387600"/>
            <a:ext cx="4621479" cy="3651250"/>
          </a:xfrm>
          <a:prstGeom prst="rect">
            <a:avLst/>
          </a:prstGeom>
          <a:noFill/>
          <a:ln/>
        </p:spPr>
        <p:txBody>
          <a:bodyPr wrap="square" lIns="0" tIns="0" rIns="0" bIns="0" rtlCol="0" anchor="t">
            <a:normAutofit/>
          </a:bodyPr>
          <a:lstStyle/>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Serverless computing is a cloud computing model where developers can run applications without managing servers.</a:t>
            </a:r>
          </a:p>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The cloud provider manages the servers, infrastructure, scaling, and maintenance.</a:t>
            </a:r>
          </a:p>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Developers can focus mainly on writing and deploying application code.</a:t>
            </a:r>
          </a:p>
        </p:txBody>
      </p:sp>
      <p:sp>
        <p:nvSpPr>
          <p:cNvPr id="6" name="Shape 4"/>
          <p:cNvSpPr/>
          <p:nvPr/>
        </p:nvSpPr>
        <p:spPr>
          <a:xfrm>
            <a:off x="6207760" y="1620520"/>
            <a:ext cx="5171440" cy="4424680"/>
          </a:xfrm>
          <a:prstGeom prst="roundRect">
            <a:avLst>
              <a:gd name="adj" fmla="val 3444"/>
            </a:avLst>
          </a:prstGeom>
          <a:solidFill>
            <a:schemeClr val="bg1"/>
          </a:solidFill>
          <a:ln/>
        </p:spPr>
      </p:sp>
      <p:sp>
        <p:nvSpPr>
          <p:cNvPr id="7" name="Text 5"/>
          <p:cNvSpPr/>
          <p:nvPr/>
        </p:nvSpPr>
        <p:spPr>
          <a:xfrm>
            <a:off x="6512560" y="1925320"/>
            <a:ext cx="469869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8C28"/>
                </a:solidFill>
                <a:latin typeface="Arial" pitchFamily="34" charset="0"/>
                <a:ea typeface="Arial" pitchFamily="34" charset="-122"/>
                <a:cs typeface="Arial" pitchFamily="34" charset="-120"/>
              </a:rPr>
              <a:t>Objective</a:t>
            </a:r>
            <a:endParaRPr lang="en-US" sz="1800" dirty="0"/>
          </a:p>
        </p:txBody>
      </p:sp>
      <p:sp>
        <p:nvSpPr>
          <p:cNvPr id="8" name="Text 6"/>
          <p:cNvSpPr/>
          <p:nvPr/>
        </p:nvSpPr>
        <p:spPr>
          <a:xfrm>
            <a:off x="6582156" y="2377440"/>
            <a:ext cx="4621479" cy="996950"/>
          </a:xfrm>
          <a:prstGeom prst="rect">
            <a:avLst/>
          </a:prstGeom>
          <a:noFill/>
          <a:ln/>
        </p:spPr>
        <p:txBody>
          <a:bodyPr wrap="square" lIns="0" tIns="0" rIns="0" bIns="0" rtlCol="0" anchor="t">
            <a:noAutofit/>
          </a:bodyPr>
          <a:lstStyle/>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To understand the concept of serverless computing.</a:t>
            </a:r>
          </a:p>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To learn how serverless architecture works.</a:t>
            </a:r>
          </a:p>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To understand its advantages and industry applications.</a:t>
            </a:r>
          </a:p>
          <a:p>
            <a:pPr marL="285750" lvl="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To study a practical example using AWS Lambda.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Arial" pitchFamily="34" charset="0"/>
                <a:ea typeface="Arial" pitchFamily="34" charset="-122"/>
                <a:cs typeface="Arial" pitchFamily="34" charset="-120"/>
              </a:rPr>
              <a:t>How serverless computing works</a:t>
            </a:r>
            <a:endParaRPr lang="en-US" sz="3600" dirty="0"/>
          </a:p>
        </p:txBody>
      </p:sp>
      <p:sp>
        <p:nvSpPr>
          <p:cNvPr id="3" name="Shape 1"/>
          <p:cNvSpPr/>
          <p:nvPr/>
        </p:nvSpPr>
        <p:spPr>
          <a:xfrm>
            <a:off x="819150" y="1576070"/>
            <a:ext cx="3390900" cy="1380490"/>
          </a:xfrm>
          <a:prstGeom prst="roundRect">
            <a:avLst>
              <a:gd name="adj" fmla="val 8740"/>
            </a:avLst>
          </a:prstGeom>
          <a:solidFill>
            <a:schemeClr val="bg1"/>
          </a:solidFill>
          <a:ln w="12700">
            <a:solidFill>
              <a:srgbClr val="DDD9CC"/>
            </a:solidFill>
            <a:prstDash val="solid"/>
          </a:ln>
        </p:spPr>
      </p:sp>
      <p:sp>
        <p:nvSpPr>
          <p:cNvPr id="4" name="Text 2"/>
          <p:cNvSpPr/>
          <p:nvPr/>
        </p:nvSpPr>
        <p:spPr>
          <a:xfrm>
            <a:off x="1026160" y="1757680"/>
            <a:ext cx="22034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2F6FED"/>
                </a:solidFill>
                <a:latin typeface="Arial" pitchFamily="34" charset="0"/>
                <a:ea typeface="Arial" pitchFamily="34" charset="-122"/>
                <a:cs typeface="Arial" pitchFamily="34" charset="-120"/>
              </a:rPr>
              <a:t>1</a:t>
            </a:r>
            <a:endParaRPr lang="en-US" sz="2400" dirty="0"/>
          </a:p>
        </p:txBody>
      </p:sp>
      <p:sp>
        <p:nvSpPr>
          <p:cNvPr id="5" name="Text 3"/>
          <p:cNvSpPr/>
          <p:nvPr/>
        </p:nvSpPr>
        <p:spPr>
          <a:xfrm>
            <a:off x="1297305" y="1757680"/>
            <a:ext cx="2786907"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D"/>
                </a:solidFill>
                <a:latin typeface="Arial" pitchFamily="34" charset="0"/>
                <a:ea typeface="Arial" pitchFamily="34" charset="-122"/>
                <a:cs typeface="Arial" pitchFamily="34" charset="-120"/>
              </a:rPr>
              <a:t>User sends a request</a:t>
            </a:r>
            <a:endParaRPr lang="en-US" sz="1500" dirty="0"/>
          </a:p>
        </p:txBody>
      </p:sp>
      <p:sp>
        <p:nvSpPr>
          <p:cNvPr id="6" name="Text 4"/>
          <p:cNvSpPr/>
          <p:nvPr/>
        </p:nvSpPr>
        <p:spPr>
          <a:xfrm>
            <a:off x="1026160" y="2138680"/>
            <a:ext cx="306618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An action such as opening an app or calling an API.</a:t>
            </a:r>
            <a:endParaRPr lang="en-US" sz="1300" dirty="0"/>
          </a:p>
        </p:txBody>
      </p:sp>
      <p:sp>
        <p:nvSpPr>
          <p:cNvPr id="7" name="Shape 5"/>
          <p:cNvSpPr/>
          <p:nvPr/>
        </p:nvSpPr>
        <p:spPr>
          <a:xfrm>
            <a:off x="4400550" y="1576070"/>
            <a:ext cx="3390900" cy="1380490"/>
          </a:xfrm>
          <a:prstGeom prst="roundRect">
            <a:avLst>
              <a:gd name="adj" fmla="val 8740"/>
            </a:avLst>
          </a:prstGeom>
          <a:solidFill>
            <a:schemeClr val="bg1"/>
          </a:solidFill>
          <a:ln w="12700">
            <a:solidFill>
              <a:srgbClr val="DDD9CC"/>
            </a:solidFill>
            <a:prstDash val="solid"/>
          </a:ln>
        </p:spPr>
      </p:sp>
      <p:sp>
        <p:nvSpPr>
          <p:cNvPr id="8" name="Text 6"/>
          <p:cNvSpPr/>
          <p:nvPr/>
        </p:nvSpPr>
        <p:spPr>
          <a:xfrm>
            <a:off x="4607560" y="1757680"/>
            <a:ext cx="22034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2F6FED"/>
                </a:solidFill>
                <a:latin typeface="Arial" pitchFamily="34" charset="0"/>
                <a:ea typeface="Arial" pitchFamily="34" charset="-122"/>
                <a:cs typeface="Arial" pitchFamily="34" charset="-120"/>
              </a:rPr>
              <a:t>2</a:t>
            </a:r>
            <a:endParaRPr lang="en-US" sz="2400" dirty="0"/>
          </a:p>
        </p:txBody>
      </p:sp>
      <p:sp>
        <p:nvSpPr>
          <p:cNvPr id="9" name="Text 7"/>
          <p:cNvSpPr/>
          <p:nvPr/>
        </p:nvSpPr>
        <p:spPr>
          <a:xfrm>
            <a:off x="4878705" y="1757680"/>
            <a:ext cx="2786907"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D"/>
                </a:solidFill>
                <a:latin typeface="Arial" pitchFamily="34" charset="0"/>
                <a:ea typeface="Arial" pitchFamily="34" charset="-122"/>
                <a:cs typeface="Arial" pitchFamily="34" charset="-120"/>
              </a:rPr>
              <a:t>Request reaches the cloud platform</a:t>
            </a:r>
            <a:endParaRPr lang="en-US" sz="1500" dirty="0"/>
          </a:p>
        </p:txBody>
      </p:sp>
      <p:sp>
        <p:nvSpPr>
          <p:cNvPr id="10" name="Text 8"/>
          <p:cNvSpPr/>
          <p:nvPr/>
        </p:nvSpPr>
        <p:spPr>
          <a:xfrm>
            <a:off x="4607560" y="2329180"/>
            <a:ext cx="306618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The platform receives it via an API gateway or trigger.</a:t>
            </a:r>
            <a:endParaRPr lang="en-US" sz="1300" dirty="0"/>
          </a:p>
        </p:txBody>
      </p:sp>
      <p:sp>
        <p:nvSpPr>
          <p:cNvPr id="11" name="Shape 9"/>
          <p:cNvSpPr/>
          <p:nvPr/>
        </p:nvSpPr>
        <p:spPr>
          <a:xfrm>
            <a:off x="7981950" y="1576070"/>
            <a:ext cx="3390900" cy="1380490"/>
          </a:xfrm>
          <a:prstGeom prst="roundRect">
            <a:avLst>
              <a:gd name="adj" fmla="val 8740"/>
            </a:avLst>
          </a:prstGeom>
          <a:solidFill>
            <a:schemeClr val="bg1"/>
          </a:solidFill>
          <a:ln w="12700">
            <a:solidFill>
              <a:srgbClr val="DDD9CC"/>
            </a:solidFill>
            <a:prstDash val="solid"/>
          </a:ln>
        </p:spPr>
      </p:sp>
      <p:sp>
        <p:nvSpPr>
          <p:cNvPr id="12" name="Text 10"/>
          <p:cNvSpPr/>
          <p:nvPr/>
        </p:nvSpPr>
        <p:spPr>
          <a:xfrm>
            <a:off x="8188960" y="1757680"/>
            <a:ext cx="22034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2F6FED"/>
                </a:solidFill>
                <a:latin typeface="Arial" pitchFamily="34" charset="0"/>
                <a:ea typeface="Arial" pitchFamily="34" charset="-122"/>
                <a:cs typeface="Arial" pitchFamily="34" charset="-120"/>
              </a:rPr>
              <a:t>3</a:t>
            </a:r>
            <a:endParaRPr lang="en-US" sz="2400" dirty="0"/>
          </a:p>
        </p:txBody>
      </p:sp>
      <p:sp>
        <p:nvSpPr>
          <p:cNvPr id="13" name="Text 11"/>
          <p:cNvSpPr/>
          <p:nvPr/>
        </p:nvSpPr>
        <p:spPr>
          <a:xfrm>
            <a:off x="8460105" y="1757680"/>
            <a:ext cx="2786907"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D"/>
                </a:solidFill>
                <a:latin typeface="Arial" pitchFamily="34" charset="0"/>
                <a:ea typeface="Arial" pitchFamily="34" charset="-122"/>
                <a:cs typeface="Arial" pitchFamily="34" charset="-120"/>
              </a:rPr>
              <a:t>A serverless function is triggered</a:t>
            </a:r>
            <a:endParaRPr lang="en-US" sz="1500" dirty="0"/>
          </a:p>
        </p:txBody>
      </p:sp>
      <p:sp>
        <p:nvSpPr>
          <p:cNvPr id="14" name="Text 12"/>
          <p:cNvSpPr/>
          <p:nvPr/>
        </p:nvSpPr>
        <p:spPr>
          <a:xfrm>
            <a:off x="8188960" y="2329180"/>
            <a:ext cx="306618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The function starts on demand, only when needed.</a:t>
            </a:r>
            <a:endParaRPr lang="en-US" sz="1300" dirty="0"/>
          </a:p>
        </p:txBody>
      </p:sp>
      <p:sp>
        <p:nvSpPr>
          <p:cNvPr id="15" name="Shape 13"/>
          <p:cNvSpPr/>
          <p:nvPr/>
        </p:nvSpPr>
        <p:spPr>
          <a:xfrm>
            <a:off x="819150" y="3147061"/>
            <a:ext cx="3390900" cy="1380490"/>
          </a:xfrm>
          <a:prstGeom prst="roundRect">
            <a:avLst>
              <a:gd name="adj" fmla="val 8740"/>
            </a:avLst>
          </a:prstGeom>
          <a:solidFill>
            <a:schemeClr val="bg1"/>
          </a:solidFill>
          <a:ln w="12700">
            <a:solidFill>
              <a:srgbClr val="DDD9CC"/>
            </a:solidFill>
            <a:prstDash val="solid"/>
          </a:ln>
        </p:spPr>
      </p:sp>
      <p:sp>
        <p:nvSpPr>
          <p:cNvPr id="16" name="Text 14"/>
          <p:cNvSpPr/>
          <p:nvPr/>
        </p:nvSpPr>
        <p:spPr>
          <a:xfrm>
            <a:off x="1026160" y="3328670"/>
            <a:ext cx="22034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2F6FED"/>
                </a:solidFill>
                <a:latin typeface="Arial" pitchFamily="34" charset="0"/>
                <a:ea typeface="Arial" pitchFamily="34" charset="-122"/>
                <a:cs typeface="Arial" pitchFamily="34" charset="-120"/>
              </a:rPr>
              <a:t>4</a:t>
            </a:r>
            <a:endParaRPr lang="en-US" sz="2400" dirty="0"/>
          </a:p>
        </p:txBody>
      </p:sp>
      <p:sp>
        <p:nvSpPr>
          <p:cNvPr id="17" name="Text 15"/>
          <p:cNvSpPr/>
          <p:nvPr/>
        </p:nvSpPr>
        <p:spPr>
          <a:xfrm>
            <a:off x="1297305" y="3328670"/>
            <a:ext cx="2786907"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D"/>
                </a:solidFill>
                <a:latin typeface="Arial" pitchFamily="34" charset="0"/>
                <a:ea typeface="Arial" pitchFamily="34" charset="-122"/>
                <a:cs typeface="Arial" pitchFamily="34" charset="-120"/>
              </a:rPr>
              <a:t>Function processes the request</a:t>
            </a:r>
            <a:endParaRPr lang="en-US" sz="1500" dirty="0"/>
          </a:p>
        </p:txBody>
      </p:sp>
      <p:sp>
        <p:nvSpPr>
          <p:cNvPr id="18" name="Text 16"/>
          <p:cNvSpPr/>
          <p:nvPr/>
        </p:nvSpPr>
        <p:spPr>
          <a:xfrm>
            <a:off x="1026160" y="3900170"/>
            <a:ext cx="306618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Your code runs and may read or write data.</a:t>
            </a:r>
            <a:endParaRPr lang="en-US" sz="1300" dirty="0"/>
          </a:p>
        </p:txBody>
      </p:sp>
      <p:sp>
        <p:nvSpPr>
          <p:cNvPr id="19" name="Shape 17"/>
          <p:cNvSpPr/>
          <p:nvPr/>
        </p:nvSpPr>
        <p:spPr>
          <a:xfrm>
            <a:off x="4400550" y="3147061"/>
            <a:ext cx="3390900" cy="1380490"/>
          </a:xfrm>
          <a:prstGeom prst="roundRect">
            <a:avLst>
              <a:gd name="adj" fmla="val 8740"/>
            </a:avLst>
          </a:prstGeom>
          <a:solidFill>
            <a:schemeClr val="bg1"/>
          </a:solidFill>
          <a:ln w="12700">
            <a:solidFill>
              <a:srgbClr val="DDD9CC"/>
            </a:solidFill>
            <a:prstDash val="solid"/>
          </a:ln>
        </p:spPr>
      </p:sp>
      <p:sp>
        <p:nvSpPr>
          <p:cNvPr id="20" name="Text 18"/>
          <p:cNvSpPr/>
          <p:nvPr/>
        </p:nvSpPr>
        <p:spPr>
          <a:xfrm>
            <a:off x="4607560" y="3328670"/>
            <a:ext cx="22034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2F6FED"/>
                </a:solidFill>
                <a:latin typeface="Arial" pitchFamily="34" charset="0"/>
                <a:ea typeface="Arial" pitchFamily="34" charset="-122"/>
                <a:cs typeface="Arial" pitchFamily="34" charset="-120"/>
              </a:rPr>
              <a:t>5</a:t>
            </a:r>
            <a:endParaRPr lang="en-US" sz="2400" dirty="0"/>
          </a:p>
        </p:txBody>
      </p:sp>
      <p:sp>
        <p:nvSpPr>
          <p:cNvPr id="21" name="Text 19"/>
          <p:cNvSpPr/>
          <p:nvPr/>
        </p:nvSpPr>
        <p:spPr>
          <a:xfrm>
            <a:off x="4878705" y="3328670"/>
            <a:ext cx="290639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D"/>
                </a:solidFill>
                <a:latin typeface="Arial" pitchFamily="34" charset="0"/>
                <a:ea typeface="Arial" pitchFamily="34" charset="-122"/>
                <a:cs typeface="Arial" pitchFamily="34" charset="-120"/>
              </a:rPr>
              <a:t>Result is returned to the user</a:t>
            </a:r>
            <a:endParaRPr lang="en-US" sz="1500" dirty="0"/>
          </a:p>
        </p:txBody>
      </p:sp>
      <p:sp>
        <p:nvSpPr>
          <p:cNvPr id="22" name="Text 20"/>
          <p:cNvSpPr/>
          <p:nvPr/>
        </p:nvSpPr>
        <p:spPr>
          <a:xfrm>
            <a:off x="4607560" y="3709670"/>
            <a:ext cx="306618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The output goes back and the function stops.</a:t>
            </a:r>
            <a:endParaRPr lang="en-US" sz="1300" dirty="0"/>
          </a:p>
        </p:txBody>
      </p:sp>
      <p:sp>
        <p:nvSpPr>
          <p:cNvPr id="23" name="Shape 21"/>
          <p:cNvSpPr/>
          <p:nvPr/>
        </p:nvSpPr>
        <p:spPr>
          <a:xfrm>
            <a:off x="7981950" y="3147061"/>
            <a:ext cx="3390900" cy="1380490"/>
          </a:xfrm>
          <a:prstGeom prst="roundRect">
            <a:avLst>
              <a:gd name="adj" fmla="val 8740"/>
            </a:avLst>
          </a:prstGeom>
          <a:solidFill>
            <a:schemeClr val="bg1"/>
          </a:solidFill>
          <a:ln w="12700">
            <a:solidFill>
              <a:srgbClr val="DDD9CC"/>
            </a:solidFill>
            <a:prstDash val="solid"/>
          </a:ln>
        </p:spPr>
      </p:sp>
      <p:sp>
        <p:nvSpPr>
          <p:cNvPr id="24" name="Text 22"/>
          <p:cNvSpPr/>
          <p:nvPr/>
        </p:nvSpPr>
        <p:spPr>
          <a:xfrm>
            <a:off x="8188960" y="3328670"/>
            <a:ext cx="22034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2F6FED"/>
                </a:solidFill>
                <a:latin typeface="Arial" pitchFamily="34" charset="0"/>
                <a:ea typeface="Arial" pitchFamily="34" charset="-122"/>
                <a:cs typeface="Arial" pitchFamily="34" charset="-120"/>
              </a:rPr>
              <a:t>6</a:t>
            </a:r>
            <a:endParaRPr lang="en-US" sz="2400" dirty="0"/>
          </a:p>
        </p:txBody>
      </p:sp>
      <p:sp>
        <p:nvSpPr>
          <p:cNvPr id="25" name="Text 23"/>
          <p:cNvSpPr/>
          <p:nvPr/>
        </p:nvSpPr>
        <p:spPr>
          <a:xfrm>
            <a:off x="8460105" y="3328670"/>
            <a:ext cx="2786907"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F1B2D"/>
                </a:solidFill>
                <a:latin typeface="Arial" pitchFamily="34" charset="0"/>
                <a:ea typeface="Arial" pitchFamily="34" charset="-122"/>
                <a:cs typeface="Arial" pitchFamily="34" charset="-120"/>
              </a:rPr>
              <a:t>Resources are automatically scaled based on demand</a:t>
            </a:r>
            <a:endParaRPr lang="en-US" sz="1500" dirty="0"/>
          </a:p>
        </p:txBody>
      </p:sp>
      <p:sp>
        <p:nvSpPr>
          <p:cNvPr id="26" name="Text 24"/>
          <p:cNvSpPr/>
          <p:nvPr/>
        </p:nvSpPr>
        <p:spPr>
          <a:xfrm>
            <a:off x="8188960" y="3900170"/>
            <a:ext cx="306618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More copies run when traffic rises, fewer when it falls.</a:t>
            </a:r>
            <a:endParaRPr lang="en-US" sz="1300" dirty="0"/>
          </a:p>
        </p:txBody>
      </p:sp>
      <p:sp>
        <p:nvSpPr>
          <p:cNvPr id="33" name="TextBox 32">
            <a:extLst>
              <a:ext uri="{FF2B5EF4-FFF2-40B4-BE49-F238E27FC236}">
                <a16:creationId xmlns:a16="http://schemas.microsoft.com/office/drawing/2014/main" id="{740CBEDB-B5B7-C730-2E8D-34D0CAA01B21}"/>
              </a:ext>
            </a:extLst>
          </p:cNvPr>
          <p:cNvSpPr txBox="1"/>
          <p:nvPr/>
        </p:nvSpPr>
        <p:spPr>
          <a:xfrm>
            <a:off x="1026160" y="5243804"/>
            <a:ext cx="8655022" cy="646331"/>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Key concept:</a:t>
            </a:r>
            <a:br>
              <a:rPr lang="en-IN" dirty="0">
                <a:latin typeface="Arial" panose="020B0604020202020204" pitchFamily="34" charset="0"/>
                <a:cs typeface="Arial" panose="020B0604020202020204" pitchFamily="34" charset="0"/>
              </a:rPr>
            </a:br>
            <a:r>
              <a:rPr lang="en-IN" b="1" dirty="0">
                <a:latin typeface="Arial" panose="020B0604020202020204" pitchFamily="34" charset="0"/>
                <a:cs typeface="Arial" panose="020B0604020202020204" pitchFamily="34" charset="0"/>
              </a:rPr>
              <a:t>Write Code → Deploy Function → Cloud Manages Infrastructure</a:t>
            </a:r>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Arial" pitchFamily="34" charset="0"/>
                <a:ea typeface="Arial" pitchFamily="34" charset="-122"/>
                <a:cs typeface="Arial" pitchFamily="34" charset="-120"/>
              </a:rPr>
              <a:t>Serverless architecture</a:t>
            </a:r>
            <a:endParaRPr lang="en-US" sz="3600" dirty="0"/>
          </a:p>
        </p:txBody>
      </p:sp>
      <p:sp>
        <p:nvSpPr>
          <p:cNvPr id="3" name="Text 1"/>
          <p:cNvSpPr/>
          <p:nvPr/>
        </p:nvSpPr>
        <p:spPr>
          <a:xfrm>
            <a:off x="2190750" y="1576070"/>
            <a:ext cx="2273300" cy="614680"/>
          </a:xfrm>
          <a:custGeom>
            <a:avLst/>
            <a:gdLst/>
            <a:ahLst/>
            <a:cxnLst/>
            <a:rect l="l" t="t" r="r" b="b"/>
            <a:pathLst>
              <a:path w="2273300" h="614680">
                <a:moveTo>
                  <a:pt x="95250" y="0"/>
                </a:moveTo>
                <a:lnTo>
                  <a:pt x="2178050" y="0"/>
                </a:lnTo>
                <a:arcTo wR="95250" hR="95250" stAng="16200000" swAng="5400000"/>
                <a:lnTo>
                  <a:pt x="2273300" y="519430"/>
                </a:lnTo>
                <a:arcTo wR="95250" hR="95250" stAng="0" swAng="5400000"/>
                <a:lnTo>
                  <a:pt x="95250" y="614680"/>
                </a:lnTo>
                <a:arcTo wR="95250" hR="95250" stAng="5400000" swAng="5400000"/>
                <a:lnTo>
                  <a:pt x="0" y="95250"/>
                </a:lnTo>
                <a:arcTo wR="95250" hR="95250" stAng="10800000" swAng="5400000"/>
                <a:close/>
              </a:path>
            </a:pathLst>
          </a:custGeom>
          <a:solidFill>
            <a:schemeClr val="bg2">
              <a:lumMod val="90000"/>
            </a:schemeClr>
          </a:solidFill>
          <a:ln w="12700">
            <a:solidFill>
              <a:srgbClr val="0F1B2D"/>
            </a:solidFill>
            <a:prstDash val="solid"/>
          </a:ln>
        </p:spPr>
        <p:txBody>
          <a:bodyPr wrap="square" lIns="0" tIns="156210" rIns="0" bIns="130810" rtlCol="0" anchor="t">
            <a:normAutofit/>
          </a:bodyPr>
          <a:lstStyle/>
          <a:p>
            <a:pPr marL="0" indent="0" algn="ctr">
              <a:lnSpc>
                <a:spcPts val="2380"/>
              </a:lnSpc>
              <a:buNone/>
            </a:pPr>
            <a:r>
              <a:rPr lang="en-US" sz="1700" b="1" dirty="0">
                <a:solidFill>
                  <a:srgbClr val="0F1B2D"/>
                </a:solidFill>
                <a:latin typeface="Arial" pitchFamily="34" charset="0"/>
                <a:ea typeface="Arial" pitchFamily="34" charset="-122"/>
                <a:cs typeface="Arial" pitchFamily="34" charset="-120"/>
              </a:rPr>
              <a:t>User</a:t>
            </a:r>
            <a:endParaRPr lang="en-US" sz="1700" dirty="0"/>
          </a:p>
        </p:txBody>
      </p:sp>
      <p:pic>
        <p:nvPicPr>
          <p:cNvPr id="4" name="Image 0" descr="arrow-down"/>
          <p:cNvPicPr>
            <a:picLocks noChangeAspect="1"/>
          </p:cNvPicPr>
          <p:nvPr/>
        </p:nvPicPr>
        <p:blipFill>
          <a:blip r:embed="rId3"/>
          <a:srcRect/>
          <a:stretch/>
        </p:blipFill>
        <p:spPr>
          <a:xfrm>
            <a:off x="3200400" y="2273300"/>
            <a:ext cx="254000" cy="355600"/>
          </a:xfrm>
          <a:prstGeom prst="rect">
            <a:avLst/>
          </a:prstGeom>
        </p:spPr>
      </p:pic>
      <p:sp>
        <p:nvSpPr>
          <p:cNvPr id="5" name="Text 2"/>
          <p:cNvSpPr/>
          <p:nvPr/>
        </p:nvSpPr>
        <p:spPr>
          <a:xfrm>
            <a:off x="1930400" y="2705100"/>
            <a:ext cx="2794000" cy="607060"/>
          </a:xfrm>
          <a:custGeom>
            <a:avLst/>
            <a:gdLst/>
            <a:ahLst/>
            <a:cxnLst/>
            <a:rect l="l" t="t" r="r" b="b"/>
            <a:pathLst>
              <a:path w="2794000" h="607060">
                <a:moveTo>
                  <a:pt x="101600" y="0"/>
                </a:moveTo>
                <a:lnTo>
                  <a:pt x="2692400" y="0"/>
                </a:lnTo>
                <a:arcTo wR="101600" hR="101600" stAng="16200000" swAng="5400000"/>
                <a:lnTo>
                  <a:pt x="2794000" y="505460"/>
                </a:lnTo>
                <a:arcTo wR="101600" hR="101600" stAng="0" swAng="5400000"/>
                <a:lnTo>
                  <a:pt x="101600" y="607060"/>
                </a:lnTo>
                <a:arcTo wR="101600" hR="101600" stAng="5400000" swAng="5400000"/>
                <a:lnTo>
                  <a:pt x="0" y="101600"/>
                </a:lnTo>
                <a:arcTo wR="101600" hR="101600" stAng="10800000" swAng="5400000"/>
                <a:close/>
              </a:path>
            </a:pathLst>
          </a:custGeom>
          <a:solidFill>
            <a:schemeClr val="bg2">
              <a:lumMod val="90000"/>
            </a:schemeClr>
          </a:solidFill>
          <a:ln/>
        </p:spPr>
        <p:txBody>
          <a:bodyPr wrap="square" lIns="0" tIns="152400" rIns="0" bIns="127000" rtlCol="0" anchor="t">
            <a:normAutofit/>
          </a:bodyPr>
          <a:lstStyle/>
          <a:p>
            <a:pPr marL="0" indent="0" algn="ctr">
              <a:lnSpc>
                <a:spcPts val="2380"/>
              </a:lnSpc>
              <a:buNone/>
            </a:pPr>
            <a:r>
              <a:rPr lang="en-US" sz="1700" b="1" dirty="0">
                <a:latin typeface="Arial" pitchFamily="34" charset="0"/>
                <a:ea typeface="Arial" pitchFamily="34" charset="-122"/>
                <a:cs typeface="Arial" pitchFamily="34" charset="-120"/>
              </a:rPr>
              <a:t>API Gateway</a:t>
            </a:r>
            <a:endParaRPr lang="en-US" sz="1700" b="1" dirty="0"/>
          </a:p>
        </p:txBody>
      </p:sp>
      <p:pic>
        <p:nvPicPr>
          <p:cNvPr id="6" name="Image 1" descr="arrow-down"/>
          <p:cNvPicPr>
            <a:picLocks noChangeAspect="1"/>
          </p:cNvPicPr>
          <p:nvPr/>
        </p:nvPicPr>
        <p:blipFill>
          <a:blip r:embed="rId3"/>
          <a:srcRect/>
          <a:stretch/>
        </p:blipFill>
        <p:spPr>
          <a:xfrm>
            <a:off x="3200400" y="3388361"/>
            <a:ext cx="254000" cy="355600"/>
          </a:xfrm>
          <a:prstGeom prst="rect">
            <a:avLst/>
          </a:prstGeom>
        </p:spPr>
      </p:pic>
      <p:sp>
        <p:nvSpPr>
          <p:cNvPr id="7" name="Shape 3"/>
          <p:cNvSpPr/>
          <p:nvPr/>
        </p:nvSpPr>
        <p:spPr>
          <a:xfrm>
            <a:off x="1295400" y="3820161"/>
            <a:ext cx="4064000" cy="830580"/>
          </a:xfrm>
          <a:prstGeom prst="roundRect">
            <a:avLst>
              <a:gd name="adj" fmla="val 12232"/>
            </a:avLst>
          </a:prstGeom>
          <a:solidFill>
            <a:schemeClr val="bg2">
              <a:lumMod val="90000"/>
            </a:schemeClr>
          </a:solidFill>
          <a:ln/>
        </p:spPr>
      </p:sp>
      <p:sp>
        <p:nvSpPr>
          <p:cNvPr id="8" name="Text 4"/>
          <p:cNvSpPr/>
          <p:nvPr/>
        </p:nvSpPr>
        <p:spPr>
          <a:xfrm>
            <a:off x="2089063" y="3947161"/>
            <a:ext cx="2476595" cy="32766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0F1B2D"/>
                </a:solidFill>
                <a:latin typeface="Arial" pitchFamily="34" charset="0"/>
                <a:ea typeface="Arial" pitchFamily="34" charset="-122"/>
                <a:cs typeface="Arial" pitchFamily="34" charset="-120"/>
              </a:rPr>
              <a:t>Serverless Function</a:t>
            </a:r>
            <a:endParaRPr lang="en-US" sz="1700" dirty="0"/>
          </a:p>
        </p:txBody>
      </p:sp>
      <p:sp>
        <p:nvSpPr>
          <p:cNvPr id="9" name="Text 5"/>
          <p:cNvSpPr/>
          <p:nvPr/>
        </p:nvSpPr>
        <p:spPr>
          <a:xfrm>
            <a:off x="2673136" y="4274820"/>
            <a:ext cx="1308449"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0F1B2D"/>
                </a:solidFill>
                <a:latin typeface="Arial" pitchFamily="34" charset="0"/>
                <a:ea typeface="Arial" pitchFamily="34" charset="-122"/>
                <a:cs typeface="Arial" pitchFamily="34" charset="-120"/>
              </a:rPr>
              <a:t>AWS Lambda</a:t>
            </a:r>
            <a:endParaRPr lang="en-US" sz="1400" dirty="0"/>
          </a:p>
        </p:txBody>
      </p:sp>
      <p:pic>
        <p:nvPicPr>
          <p:cNvPr id="10" name="Image 2" descr="arrow-down"/>
          <p:cNvPicPr>
            <a:picLocks noChangeAspect="1"/>
          </p:cNvPicPr>
          <p:nvPr/>
        </p:nvPicPr>
        <p:blipFill>
          <a:blip r:embed="rId3"/>
          <a:srcRect/>
          <a:stretch/>
        </p:blipFill>
        <p:spPr>
          <a:xfrm>
            <a:off x="2146300" y="4726941"/>
            <a:ext cx="254000" cy="355600"/>
          </a:xfrm>
          <a:prstGeom prst="rect">
            <a:avLst/>
          </a:prstGeom>
        </p:spPr>
      </p:pic>
      <p:pic>
        <p:nvPicPr>
          <p:cNvPr id="11" name="Image 3" descr="arrow-down"/>
          <p:cNvPicPr>
            <a:picLocks noChangeAspect="1"/>
          </p:cNvPicPr>
          <p:nvPr/>
        </p:nvPicPr>
        <p:blipFill>
          <a:blip r:embed="rId3"/>
          <a:srcRect/>
          <a:stretch/>
        </p:blipFill>
        <p:spPr>
          <a:xfrm>
            <a:off x="4254500" y="4726941"/>
            <a:ext cx="254000" cy="355600"/>
          </a:xfrm>
          <a:prstGeom prst="rect">
            <a:avLst/>
          </a:prstGeom>
        </p:spPr>
      </p:pic>
      <p:sp>
        <p:nvSpPr>
          <p:cNvPr id="12" name="Text 6"/>
          <p:cNvSpPr/>
          <p:nvPr/>
        </p:nvSpPr>
        <p:spPr>
          <a:xfrm>
            <a:off x="1295400" y="5158741"/>
            <a:ext cx="1955800" cy="589280"/>
          </a:xfrm>
          <a:custGeom>
            <a:avLst/>
            <a:gdLst/>
            <a:ahLst/>
            <a:cxnLst/>
            <a:rect l="l" t="t" r="r" b="b"/>
            <a:pathLst>
              <a:path w="1955800" h="589280">
                <a:moveTo>
                  <a:pt x="101600" y="0"/>
                </a:moveTo>
                <a:lnTo>
                  <a:pt x="1854200" y="0"/>
                </a:lnTo>
                <a:arcTo wR="101600" hR="101600" stAng="16200000" swAng="5400000"/>
                <a:lnTo>
                  <a:pt x="1955800" y="487680"/>
                </a:lnTo>
                <a:arcTo wR="101600" hR="101600" stAng="0" swAng="5400000"/>
                <a:lnTo>
                  <a:pt x="101600" y="589280"/>
                </a:lnTo>
                <a:arcTo wR="101600" hR="101600" stAng="5400000" swAng="5400000"/>
                <a:lnTo>
                  <a:pt x="0" y="101600"/>
                </a:lnTo>
                <a:arcTo wR="101600" hR="101600" stAng="10800000" swAng="5400000"/>
                <a:close/>
              </a:path>
            </a:pathLst>
          </a:custGeom>
          <a:solidFill>
            <a:schemeClr val="bg2">
              <a:lumMod val="90000"/>
            </a:schemeClr>
          </a:solidFill>
          <a:ln/>
        </p:spPr>
        <p:txBody>
          <a:bodyPr wrap="square" lIns="0" tIns="152400" rIns="0" bIns="127000" rtlCol="0" anchor="t">
            <a:normAutofit/>
          </a:bodyPr>
          <a:lstStyle/>
          <a:p>
            <a:pPr marL="0" indent="0" algn="ctr">
              <a:lnSpc>
                <a:spcPts val="2240"/>
              </a:lnSpc>
              <a:buNone/>
            </a:pPr>
            <a:r>
              <a:rPr lang="en-US" sz="1600" b="1" dirty="0">
                <a:latin typeface="Arial" pitchFamily="34" charset="0"/>
                <a:ea typeface="Arial" pitchFamily="34" charset="-122"/>
                <a:cs typeface="Arial" pitchFamily="34" charset="-120"/>
              </a:rPr>
              <a:t>Database</a:t>
            </a:r>
            <a:endParaRPr lang="en-US" sz="1600" dirty="0"/>
          </a:p>
        </p:txBody>
      </p:sp>
      <p:sp>
        <p:nvSpPr>
          <p:cNvPr id="13" name="Text 7"/>
          <p:cNvSpPr/>
          <p:nvPr/>
        </p:nvSpPr>
        <p:spPr>
          <a:xfrm>
            <a:off x="3403600" y="5158741"/>
            <a:ext cx="1955800" cy="589280"/>
          </a:xfrm>
          <a:custGeom>
            <a:avLst/>
            <a:gdLst/>
            <a:ahLst/>
            <a:cxnLst/>
            <a:rect l="l" t="t" r="r" b="b"/>
            <a:pathLst>
              <a:path w="1955800" h="589280">
                <a:moveTo>
                  <a:pt x="101600" y="0"/>
                </a:moveTo>
                <a:lnTo>
                  <a:pt x="1854200" y="0"/>
                </a:lnTo>
                <a:arcTo wR="101600" hR="101600" stAng="16200000" swAng="5400000"/>
                <a:lnTo>
                  <a:pt x="1955800" y="487680"/>
                </a:lnTo>
                <a:arcTo wR="101600" hR="101600" stAng="0" swAng="5400000"/>
                <a:lnTo>
                  <a:pt x="101600" y="589280"/>
                </a:lnTo>
                <a:arcTo wR="101600" hR="101600" stAng="5400000" swAng="5400000"/>
                <a:lnTo>
                  <a:pt x="0" y="101600"/>
                </a:lnTo>
                <a:arcTo wR="101600" hR="101600" stAng="10800000" swAng="5400000"/>
                <a:close/>
              </a:path>
            </a:pathLst>
          </a:custGeom>
          <a:solidFill>
            <a:schemeClr val="bg2">
              <a:lumMod val="90000"/>
            </a:schemeClr>
          </a:solidFill>
          <a:ln/>
        </p:spPr>
        <p:txBody>
          <a:bodyPr wrap="square" lIns="0" tIns="152400" rIns="0" bIns="127000" rtlCol="0" anchor="t">
            <a:normAutofit/>
          </a:bodyPr>
          <a:lstStyle/>
          <a:p>
            <a:pPr marL="0" indent="0" algn="ctr">
              <a:lnSpc>
                <a:spcPts val="2240"/>
              </a:lnSpc>
              <a:buNone/>
            </a:pPr>
            <a:r>
              <a:rPr lang="en-US" sz="1600" b="1" dirty="0">
                <a:latin typeface="Arial" pitchFamily="34" charset="0"/>
                <a:ea typeface="Arial" pitchFamily="34" charset="-122"/>
                <a:cs typeface="Arial" pitchFamily="34" charset="-120"/>
              </a:rPr>
              <a:t>Cloud Storage</a:t>
            </a:r>
            <a:endParaRPr lang="en-US" sz="1600" dirty="0"/>
          </a:p>
        </p:txBody>
      </p:sp>
      <p:sp>
        <p:nvSpPr>
          <p:cNvPr id="15" name="Text 9"/>
          <p:cNvSpPr/>
          <p:nvPr/>
        </p:nvSpPr>
        <p:spPr>
          <a:xfrm>
            <a:off x="6578600" y="2195830"/>
            <a:ext cx="49446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Arial" pitchFamily="34" charset="0"/>
                <a:ea typeface="Arial" pitchFamily="34" charset="-122"/>
                <a:cs typeface="Arial" pitchFamily="34" charset="-120"/>
              </a:rPr>
              <a:t>API Gateway</a:t>
            </a:r>
            <a:endParaRPr lang="en-US" sz="1800" dirty="0"/>
          </a:p>
        </p:txBody>
      </p:sp>
      <p:sp>
        <p:nvSpPr>
          <p:cNvPr id="16" name="Text 10"/>
          <p:cNvSpPr/>
          <p:nvPr/>
        </p:nvSpPr>
        <p:spPr>
          <a:xfrm>
            <a:off x="6578600" y="250825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Receives requests.</a:t>
            </a:r>
            <a:endParaRPr lang="en-US" sz="1500" dirty="0"/>
          </a:p>
        </p:txBody>
      </p:sp>
      <p:sp>
        <p:nvSpPr>
          <p:cNvPr id="18" name="Text 12"/>
          <p:cNvSpPr/>
          <p:nvPr/>
        </p:nvSpPr>
        <p:spPr>
          <a:xfrm>
            <a:off x="6578600" y="2978150"/>
            <a:ext cx="49446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Arial" pitchFamily="34" charset="0"/>
                <a:ea typeface="Arial" pitchFamily="34" charset="-122"/>
                <a:cs typeface="Arial" pitchFamily="34" charset="-120"/>
              </a:rPr>
              <a:t>Function</a:t>
            </a:r>
            <a:endParaRPr lang="en-US" sz="1800" dirty="0"/>
          </a:p>
        </p:txBody>
      </p:sp>
      <p:sp>
        <p:nvSpPr>
          <p:cNvPr id="19" name="Text 13"/>
          <p:cNvSpPr/>
          <p:nvPr/>
        </p:nvSpPr>
        <p:spPr>
          <a:xfrm>
            <a:off x="6578600" y="32905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Executes application logic.</a:t>
            </a:r>
            <a:endParaRPr lang="en-US" sz="1500" dirty="0"/>
          </a:p>
        </p:txBody>
      </p:sp>
      <p:sp>
        <p:nvSpPr>
          <p:cNvPr id="21" name="Text 15"/>
          <p:cNvSpPr/>
          <p:nvPr/>
        </p:nvSpPr>
        <p:spPr>
          <a:xfrm>
            <a:off x="6578600" y="3760470"/>
            <a:ext cx="49446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Arial" pitchFamily="34" charset="0"/>
                <a:ea typeface="Arial" pitchFamily="34" charset="-122"/>
                <a:cs typeface="Arial" pitchFamily="34" charset="-120"/>
              </a:rPr>
              <a:t>Database</a:t>
            </a:r>
            <a:endParaRPr lang="en-US" sz="1800" dirty="0"/>
          </a:p>
        </p:txBody>
      </p:sp>
      <p:sp>
        <p:nvSpPr>
          <p:cNvPr id="22" name="Text 16"/>
          <p:cNvSpPr/>
          <p:nvPr/>
        </p:nvSpPr>
        <p:spPr>
          <a:xfrm>
            <a:off x="6578600" y="4072891"/>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Stores application data.</a:t>
            </a:r>
            <a:endParaRPr lang="en-US" sz="1500" dirty="0"/>
          </a:p>
        </p:txBody>
      </p:sp>
      <p:sp>
        <p:nvSpPr>
          <p:cNvPr id="24" name="Text 18"/>
          <p:cNvSpPr/>
          <p:nvPr/>
        </p:nvSpPr>
        <p:spPr>
          <a:xfrm>
            <a:off x="6578600" y="4542791"/>
            <a:ext cx="49446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Arial" pitchFamily="34" charset="0"/>
                <a:ea typeface="Arial" pitchFamily="34" charset="-122"/>
                <a:cs typeface="Arial" pitchFamily="34" charset="-120"/>
              </a:rPr>
              <a:t>Cloud Storage</a:t>
            </a:r>
            <a:endParaRPr lang="en-US" sz="1800" dirty="0"/>
          </a:p>
        </p:txBody>
      </p:sp>
      <p:sp>
        <p:nvSpPr>
          <p:cNvPr id="25" name="Text 19"/>
          <p:cNvSpPr/>
          <p:nvPr/>
        </p:nvSpPr>
        <p:spPr>
          <a:xfrm>
            <a:off x="6578600" y="4855211"/>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Stores files and objects.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i="0" dirty="0">
                <a:solidFill>
                  <a:schemeClr val="tx1"/>
                </a:solidFill>
                <a:latin typeface="Arial" pitchFamily="34" charset="0"/>
                <a:ea typeface="Arial" pitchFamily="34" charset="-122"/>
                <a:cs typeface="Arial" pitchFamily="34" charset="-120"/>
              </a:rPr>
              <a:t>Advantages of serverless computing</a:t>
            </a:r>
            <a:endParaRPr lang="en-US" sz="3600" dirty="0">
              <a:solidFill>
                <a:schemeClr val="tx1"/>
              </a:solidFill>
            </a:endParaRPr>
          </a:p>
        </p:txBody>
      </p:sp>
      <p:sp>
        <p:nvSpPr>
          <p:cNvPr id="23" name="TextBox 22">
            <a:extLst>
              <a:ext uri="{FF2B5EF4-FFF2-40B4-BE49-F238E27FC236}">
                <a16:creationId xmlns:a16="http://schemas.microsoft.com/office/drawing/2014/main" id="{4C8A01C2-B4FE-A345-4F09-D0EEAF466DD1}"/>
              </a:ext>
            </a:extLst>
          </p:cNvPr>
          <p:cNvSpPr txBox="1"/>
          <p:nvPr/>
        </p:nvSpPr>
        <p:spPr>
          <a:xfrm>
            <a:off x="812800" y="2114759"/>
            <a:ext cx="6097554" cy="3740255"/>
          </a:xfrm>
          <a:prstGeom prst="rect">
            <a:avLst/>
          </a:prstGeom>
          <a:noFill/>
        </p:spPr>
        <p:txBody>
          <a:bodyPr wrap="square">
            <a:spAutoFit/>
          </a:bodyPr>
          <a:lstStyle/>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No server management</a:t>
            </a:r>
          </a:p>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Automatic scaling</a:t>
            </a:r>
          </a:p>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Pay-as-you-use pricing</a:t>
            </a:r>
          </a:p>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Faster development</a:t>
            </a:r>
          </a:p>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High availability</a:t>
            </a:r>
          </a:p>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Reduced infrastructure cost</a:t>
            </a:r>
          </a:p>
          <a:p>
            <a:pPr marL="342900" lvl="0" indent="-342900">
              <a:lnSpc>
                <a:spcPct val="125000"/>
              </a:lnSpc>
              <a:buFont typeface="Arial" panose="020B0604020202020204" pitchFamily="34" charset="0"/>
              <a:buChar char="•"/>
            </a:pPr>
            <a:r>
              <a:rPr lang="en-IN" sz="2400" dirty="0">
                <a:latin typeface="Arial" panose="020B0604020202020204" pitchFamily="34" charset="0"/>
                <a:cs typeface="Arial" panose="020B0604020202020204" pitchFamily="34" charset="0"/>
              </a:rPr>
              <a:t>Developers can focus on application development.</a:t>
            </a:r>
          </a:p>
        </p:txBody>
      </p:sp>
      <p:pic>
        <p:nvPicPr>
          <p:cNvPr id="27" name="Picture 26" descr="What is Serverless Computing? Complete Guide for Beginners | Codecademy">
            <a:extLst>
              <a:ext uri="{FF2B5EF4-FFF2-40B4-BE49-F238E27FC236}">
                <a16:creationId xmlns:a16="http://schemas.microsoft.com/office/drawing/2014/main" id="{2EB55D1B-E079-E021-F0A3-1B54970140CD}"/>
              </a:ext>
            </a:extLst>
          </p:cNvPr>
          <p:cNvPicPr>
            <a:picLocks noChangeAspect="1"/>
          </p:cNvPicPr>
          <p:nvPr/>
        </p:nvPicPr>
        <p:blipFill>
          <a:blip r:embed="rId3"/>
          <a:stretch>
            <a:fillRect/>
          </a:stretch>
        </p:blipFill>
        <p:spPr>
          <a:xfrm>
            <a:off x="6400292" y="2114759"/>
            <a:ext cx="5295900" cy="3419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t>Industry Relevance</a:t>
            </a:r>
          </a:p>
        </p:txBody>
      </p:sp>
      <p:sp>
        <p:nvSpPr>
          <p:cNvPr id="14" name="TextBox 13">
            <a:extLst>
              <a:ext uri="{FF2B5EF4-FFF2-40B4-BE49-F238E27FC236}">
                <a16:creationId xmlns:a16="http://schemas.microsoft.com/office/drawing/2014/main" id="{3FF7EF24-AB44-286A-B5DD-56D490D1F2CA}"/>
              </a:ext>
            </a:extLst>
          </p:cNvPr>
          <p:cNvSpPr txBox="1"/>
          <p:nvPr/>
        </p:nvSpPr>
        <p:spPr>
          <a:xfrm>
            <a:off x="671805" y="1859339"/>
            <a:ext cx="6335486" cy="4247317"/>
          </a:xfrm>
          <a:prstGeom prst="rect">
            <a:avLst/>
          </a:prstGeom>
          <a:noFill/>
        </p:spPr>
        <p:txBody>
          <a:bodyPr wrap="square">
            <a:spAutoFit/>
          </a:bodyPr>
          <a:lstStyle/>
          <a:p>
            <a:pPr marL="342900" lvl="0" indent="-342900">
              <a:buFont typeface="Arial" panose="020B0604020202020204" pitchFamily="34" charset="0"/>
              <a:buChar char="•"/>
            </a:pPr>
            <a:r>
              <a:rPr lang="en-IN" b="1" dirty="0"/>
              <a:t>Web Applications:</a:t>
            </a:r>
            <a:r>
              <a:rPr lang="en-IN" dirty="0"/>
              <a:t> Used to build scalable web and mobile backends.</a:t>
            </a:r>
          </a:p>
          <a:p>
            <a:pPr marL="342900" lvl="0" indent="-342900">
              <a:buFont typeface="Arial" panose="020B0604020202020204" pitchFamily="34" charset="0"/>
              <a:buChar char="•"/>
            </a:pPr>
            <a:r>
              <a:rPr lang="en-IN" b="1" dirty="0"/>
              <a:t>E-commerce:</a:t>
            </a:r>
            <a:r>
              <a:rPr lang="en-IN" dirty="0"/>
              <a:t> Handles sudden increases in customer requests during sales.</a:t>
            </a:r>
          </a:p>
          <a:p>
            <a:pPr marL="342900" lvl="0" indent="-342900">
              <a:buFont typeface="Arial" panose="020B0604020202020204" pitchFamily="34" charset="0"/>
              <a:buChar char="•"/>
            </a:pPr>
            <a:r>
              <a:rPr lang="en-IN" b="1" dirty="0"/>
              <a:t>Data Processing:</a:t>
            </a:r>
            <a:r>
              <a:rPr lang="en-IN" dirty="0"/>
              <a:t> Processes large amounts of data automatically.</a:t>
            </a:r>
          </a:p>
          <a:p>
            <a:pPr marL="342900" lvl="0" indent="-342900">
              <a:buFont typeface="Arial" panose="020B0604020202020204" pitchFamily="34" charset="0"/>
              <a:buChar char="•"/>
            </a:pPr>
            <a:r>
              <a:rPr lang="en-IN" b="1" dirty="0"/>
              <a:t>IoT:</a:t>
            </a:r>
            <a:r>
              <a:rPr lang="en-IN" dirty="0"/>
              <a:t> Responds to data and events generated by connected devices.</a:t>
            </a:r>
          </a:p>
          <a:p>
            <a:pPr marL="342900" lvl="0" indent="-342900">
              <a:buFont typeface="Arial" panose="020B0604020202020204" pitchFamily="34" charset="0"/>
              <a:buChar char="•"/>
            </a:pPr>
            <a:r>
              <a:rPr lang="en-IN" b="1" dirty="0"/>
              <a:t>Media Processing:</a:t>
            </a:r>
            <a:r>
              <a:rPr lang="en-IN" dirty="0"/>
              <a:t> Automatically processes uploaded images, videos, and files.</a:t>
            </a:r>
          </a:p>
          <a:p>
            <a:pPr marL="342900" lvl="0" indent="-342900">
              <a:buFont typeface="Arial" panose="020B0604020202020204" pitchFamily="34" charset="0"/>
              <a:buChar char="•"/>
            </a:pPr>
            <a:r>
              <a:rPr lang="en-IN" b="1" dirty="0"/>
              <a:t>Financial Services:</a:t>
            </a:r>
            <a:r>
              <a:rPr lang="en-IN" dirty="0"/>
              <a:t> Supports event-driven transactions and automated workflows.</a:t>
            </a:r>
          </a:p>
          <a:p>
            <a:pPr marL="342900" lvl="0" indent="-342900">
              <a:buFont typeface="Arial" panose="020B0604020202020204" pitchFamily="34" charset="0"/>
              <a:buChar char="•"/>
            </a:pPr>
            <a:r>
              <a:rPr lang="en-IN" b="1" dirty="0"/>
              <a:t>Business Benefit:</a:t>
            </a:r>
            <a:r>
              <a:rPr lang="en-IN" dirty="0"/>
              <a:t> Reduces server management and allows organizations to scale applications based on demand.</a:t>
            </a:r>
          </a:p>
        </p:txBody>
      </p:sp>
      <p:pic>
        <p:nvPicPr>
          <p:cNvPr id="15" name="Graphic 14" descr="what is the benefit of serverless computing and how does it compare vs  containers">
            <a:extLst>
              <a:ext uri="{FF2B5EF4-FFF2-40B4-BE49-F238E27FC236}">
                <a16:creationId xmlns:a16="http://schemas.microsoft.com/office/drawing/2014/main" id="{46DFE1A6-58C0-AB9F-CF52-BD7FD2E914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7290" y="1241012"/>
            <a:ext cx="4755908" cy="48041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Arial" pitchFamily="34" charset="0"/>
                <a:ea typeface="Arial" pitchFamily="34" charset="-122"/>
                <a:cs typeface="Arial" pitchFamily="34" charset="-120"/>
              </a:rPr>
              <a:t>Practical example: AWS Lambda</a:t>
            </a:r>
            <a:endParaRPr lang="en-US" sz="3600" dirty="0"/>
          </a:p>
        </p:txBody>
      </p:sp>
      <p:sp>
        <p:nvSpPr>
          <p:cNvPr id="3" name="Text 1"/>
          <p:cNvSpPr/>
          <p:nvPr/>
        </p:nvSpPr>
        <p:spPr>
          <a:xfrm>
            <a:off x="819150" y="1576071"/>
            <a:ext cx="1665684" cy="896620"/>
          </a:xfrm>
          <a:prstGeom prst="roundRect">
            <a:avLst>
              <a:gd name="adj" fmla="val 10623"/>
            </a:avLst>
          </a:prstGeom>
          <a:solidFill>
            <a:schemeClr val="bg1"/>
          </a:solidFill>
          <a:ln w="12700">
            <a:solidFill>
              <a:srgbClr val="0F1B2D"/>
            </a:solidFill>
            <a:prstDash val="solid"/>
          </a:ln>
        </p:spPr>
        <p:txBody>
          <a:bodyPr wrap="square" lIns="26712" tIns="153712" rIns="26712" bIns="128312" rtlCol="0" anchor="t">
            <a:normAutofit/>
          </a:bodyPr>
          <a:lstStyle/>
          <a:p>
            <a:pPr marL="0" indent="0" algn="ctr">
              <a:lnSpc>
                <a:spcPts val="2100"/>
              </a:lnSpc>
              <a:buNone/>
            </a:pPr>
            <a:r>
              <a:rPr lang="en-US" sz="1500" b="1" dirty="0">
                <a:solidFill>
                  <a:srgbClr val="0F1B2D"/>
                </a:solidFill>
                <a:latin typeface="Arial" pitchFamily="34" charset="0"/>
                <a:ea typeface="Arial" pitchFamily="34" charset="-122"/>
                <a:cs typeface="Arial" pitchFamily="34" charset="-120"/>
              </a:rPr>
              <a:t>User uploads image</a:t>
            </a:r>
            <a:endParaRPr lang="en-US" sz="1500" dirty="0"/>
          </a:p>
        </p:txBody>
      </p:sp>
      <p:pic>
        <p:nvPicPr>
          <p:cNvPr id="4" name="Image 0" descr="arrow-right"/>
          <p:cNvPicPr>
            <a:picLocks noChangeAspect="1"/>
          </p:cNvPicPr>
          <p:nvPr/>
        </p:nvPicPr>
        <p:blipFill>
          <a:blip r:embed="rId3"/>
          <a:srcRect/>
          <a:stretch/>
        </p:blipFill>
        <p:spPr>
          <a:xfrm>
            <a:off x="2592784" y="1935482"/>
            <a:ext cx="355600" cy="177800"/>
          </a:xfrm>
          <a:prstGeom prst="rect">
            <a:avLst/>
          </a:prstGeom>
        </p:spPr>
      </p:pic>
      <p:sp>
        <p:nvSpPr>
          <p:cNvPr id="5" name="Text 2"/>
          <p:cNvSpPr/>
          <p:nvPr/>
        </p:nvSpPr>
        <p:spPr>
          <a:xfrm>
            <a:off x="3049984" y="1713232"/>
            <a:ext cx="1658144" cy="622300"/>
          </a:xfrm>
          <a:custGeom>
            <a:avLst/>
            <a:gdLst/>
            <a:ahLst/>
            <a:cxnLst/>
            <a:rect l="l" t="t" r="r" b="b"/>
            <a:pathLst>
              <a:path w="1658144" h="622300">
                <a:moveTo>
                  <a:pt x="101600" y="0"/>
                </a:moveTo>
                <a:lnTo>
                  <a:pt x="1556544" y="0"/>
                </a:lnTo>
                <a:arcTo wR="101600" hR="101600" stAng="16200000" swAng="5400000"/>
                <a:lnTo>
                  <a:pt x="1658144" y="520700"/>
                </a:lnTo>
                <a:arcTo wR="101600" hR="101600" stAng="0" swAng="5400000"/>
                <a:lnTo>
                  <a:pt x="101600" y="622300"/>
                </a:lnTo>
                <a:arcTo wR="101600" hR="101600" stAng="5400000" swAng="5400000"/>
                <a:lnTo>
                  <a:pt x="0" y="101600"/>
                </a:lnTo>
                <a:arcTo wR="101600" hR="101600" stAng="10800000" swAng="5400000"/>
                <a:close/>
              </a:path>
            </a:pathLst>
          </a:custGeom>
          <a:solidFill>
            <a:schemeClr val="bg1"/>
          </a:solidFill>
          <a:ln>
            <a:solidFill>
              <a:schemeClr val="tx1"/>
            </a:solidFill>
          </a:ln>
        </p:spPr>
        <p:txBody>
          <a:bodyPr wrap="square" lIns="50800" tIns="177800" rIns="50800" bIns="152400" rtlCol="0" anchor="t">
            <a:normAutofit/>
          </a:bodyPr>
          <a:lstStyle/>
          <a:p>
            <a:pPr marL="0" indent="0" algn="ctr">
              <a:lnSpc>
                <a:spcPts val="2100"/>
              </a:lnSpc>
              <a:buNone/>
            </a:pPr>
            <a:r>
              <a:rPr lang="en-US" sz="1500" b="1" dirty="0">
                <a:latin typeface="Arial" pitchFamily="34" charset="0"/>
                <a:ea typeface="Arial" pitchFamily="34" charset="-122"/>
                <a:cs typeface="Arial" pitchFamily="34" charset="-120"/>
              </a:rPr>
              <a:t>Cloud Storage</a:t>
            </a:r>
            <a:endParaRPr lang="en-US" sz="1500" dirty="0"/>
          </a:p>
        </p:txBody>
      </p:sp>
      <p:pic>
        <p:nvPicPr>
          <p:cNvPr id="6" name="Image 1" descr="arrow-right"/>
          <p:cNvPicPr>
            <a:picLocks noChangeAspect="1"/>
          </p:cNvPicPr>
          <p:nvPr/>
        </p:nvPicPr>
        <p:blipFill>
          <a:blip r:embed="rId3"/>
          <a:srcRect/>
          <a:stretch/>
        </p:blipFill>
        <p:spPr>
          <a:xfrm>
            <a:off x="4809728" y="1935482"/>
            <a:ext cx="355600" cy="177800"/>
          </a:xfrm>
          <a:prstGeom prst="rect">
            <a:avLst/>
          </a:prstGeom>
        </p:spPr>
      </p:pic>
      <p:sp>
        <p:nvSpPr>
          <p:cNvPr id="7" name="Text 3"/>
          <p:cNvSpPr/>
          <p:nvPr/>
        </p:nvSpPr>
        <p:spPr>
          <a:xfrm>
            <a:off x="5266928" y="1713232"/>
            <a:ext cx="1658064" cy="622300"/>
          </a:xfrm>
          <a:custGeom>
            <a:avLst/>
            <a:gdLst/>
            <a:ahLst/>
            <a:cxnLst/>
            <a:rect l="l" t="t" r="r" b="b"/>
            <a:pathLst>
              <a:path w="1658064" h="622300">
                <a:moveTo>
                  <a:pt x="101600" y="0"/>
                </a:moveTo>
                <a:lnTo>
                  <a:pt x="1556464" y="0"/>
                </a:lnTo>
                <a:arcTo wR="101600" hR="101600" stAng="16200000" swAng="5400000"/>
                <a:lnTo>
                  <a:pt x="1658064" y="520700"/>
                </a:lnTo>
                <a:arcTo wR="101600" hR="101600" stAng="0" swAng="5400000"/>
                <a:lnTo>
                  <a:pt x="101600" y="622300"/>
                </a:lnTo>
                <a:arcTo wR="101600" hR="101600" stAng="5400000" swAng="5400000"/>
                <a:lnTo>
                  <a:pt x="0" y="101600"/>
                </a:lnTo>
                <a:arcTo wR="101600" hR="101600" stAng="10800000" swAng="5400000"/>
                <a:close/>
              </a:path>
            </a:pathLst>
          </a:custGeom>
          <a:solidFill>
            <a:schemeClr val="bg1"/>
          </a:solidFill>
          <a:ln>
            <a:solidFill>
              <a:schemeClr val="tx1"/>
            </a:solidFill>
          </a:ln>
        </p:spPr>
        <p:txBody>
          <a:bodyPr wrap="square" lIns="50800" tIns="177800" rIns="50800" bIns="152400" rtlCol="0" anchor="t">
            <a:normAutofit/>
          </a:bodyPr>
          <a:lstStyle/>
          <a:p>
            <a:pPr marL="0" indent="0" algn="ctr">
              <a:lnSpc>
                <a:spcPts val="2100"/>
              </a:lnSpc>
              <a:buNone/>
            </a:pPr>
            <a:r>
              <a:rPr lang="en-US" sz="1500" b="1" dirty="0">
                <a:solidFill>
                  <a:srgbClr val="0F1B2D"/>
                </a:solidFill>
                <a:latin typeface="Arial" pitchFamily="34" charset="0"/>
                <a:ea typeface="Arial" pitchFamily="34" charset="-122"/>
                <a:cs typeface="Arial" pitchFamily="34" charset="-120"/>
              </a:rPr>
              <a:t>AWS Lambda</a:t>
            </a:r>
            <a:endParaRPr lang="en-US" sz="1500" dirty="0"/>
          </a:p>
        </p:txBody>
      </p:sp>
      <p:pic>
        <p:nvPicPr>
          <p:cNvPr id="8" name="Image 2" descr="arrow-right"/>
          <p:cNvPicPr>
            <a:picLocks noChangeAspect="1"/>
          </p:cNvPicPr>
          <p:nvPr/>
        </p:nvPicPr>
        <p:blipFill>
          <a:blip r:embed="rId3"/>
          <a:srcRect/>
          <a:stretch/>
        </p:blipFill>
        <p:spPr>
          <a:xfrm>
            <a:off x="7026593" y="1935482"/>
            <a:ext cx="355600" cy="177800"/>
          </a:xfrm>
          <a:prstGeom prst="rect">
            <a:avLst/>
          </a:prstGeom>
        </p:spPr>
      </p:pic>
      <p:sp>
        <p:nvSpPr>
          <p:cNvPr id="9" name="Text 4"/>
          <p:cNvSpPr/>
          <p:nvPr/>
        </p:nvSpPr>
        <p:spPr>
          <a:xfrm>
            <a:off x="7483793" y="1579882"/>
            <a:ext cx="1658144" cy="889000"/>
          </a:xfrm>
          <a:custGeom>
            <a:avLst/>
            <a:gdLst/>
            <a:ahLst/>
            <a:cxnLst/>
            <a:rect l="l" t="t" r="r" b="b"/>
            <a:pathLst>
              <a:path w="1658144" h="889000">
                <a:moveTo>
                  <a:pt x="101600" y="0"/>
                </a:moveTo>
                <a:lnTo>
                  <a:pt x="1556544" y="0"/>
                </a:lnTo>
                <a:arcTo wR="101600" hR="101600" stAng="16200000" swAng="5400000"/>
                <a:lnTo>
                  <a:pt x="1658144" y="787400"/>
                </a:lnTo>
                <a:arcTo wR="101600" hR="101600" stAng="0" swAng="5400000"/>
                <a:lnTo>
                  <a:pt x="101600" y="889000"/>
                </a:lnTo>
                <a:arcTo wR="101600" hR="101600" stAng="5400000" swAng="5400000"/>
                <a:lnTo>
                  <a:pt x="0" y="101600"/>
                </a:lnTo>
                <a:arcTo wR="101600" hR="101600" stAng="10800000" swAng="5400000"/>
                <a:close/>
              </a:path>
            </a:pathLst>
          </a:custGeom>
          <a:solidFill>
            <a:schemeClr val="bg1"/>
          </a:solidFill>
          <a:ln>
            <a:solidFill>
              <a:schemeClr val="tx1"/>
            </a:solidFill>
          </a:ln>
        </p:spPr>
        <p:txBody>
          <a:bodyPr wrap="square" lIns="50800" tIns="177800" rIns="50800" bIns="152400" rtlCol="0" anchor="t">
            <a:normAutofit/>
          </a:bodyPr>
          <a:lstStyle/>
          <a:p>
            <a:pPr marL="0" indent="0" algn="ctr">
              <a:lnSpc>
                <a:spcPts val="2100"/>
              </a:lnSpc>
              <a:buNone/>
            </a:pPr>
            <a:r>
              <a:rPr lang="en-US" sz="1500" b="1" dirty="0">
                <a:latin typeface="Arial" pitchFamily="34" charset="0"/>
                <a:ea typeface="Arial" pitchFamily="34" charset="-122"/>
                <a:cs typeface="Arial" pitchFamily="34" charset="-120"/>
              </a:rPr>
              <a:t>Image Processing</a:t>
            </a:r>
            <a:endParaRPr lang="en-US" sz="1500" dirty="0"/>
          </a:p>
        </p:txBody>
      </p:sp>
      <p:pic>
        <p:nvPicPr>
          <p:cNvPr id="10" name="Image 3" descr="arrow-right"/>
          <p:cNvPicPr>
            <a:picLocks noChangeAspect="1"/>
          </p:cNvPicPr>
          <p:nvPr/>
        </p:nvPicPr>
        <p:blipFill>
          <a:blip r:embed="rId3"/>
          <a:srcRect/>
          <a:stretch/>
        </p:blipFill>
        <p:spPr>
          <a:xfrm>
            <a:off x="9243537" y="1935482"/>
            <a:ext cx="355600" cy="177800"/>
          </a:xfrm>
          <a:prstGeom prst="rect">
            <a:avLst/>
          </a:prstGeom>
        </p:spPr>
      </p:pic>
      <p:sp>
        <p:nvSpPr>
          <p:cNvPr id="11" name="Text 5"/>
          <p:cNvSpPr/>
          <p:nvPr/>
        </p:nvSpPr>
        <p:spPr>
          <a:xfrm>
            <a:off x="9707087" y="1576071"/>
            <a:ext cx="1665764" cy="896620"/>
          </a:xfrm>
          <a:prstGeom prst="roundRect">
            <a:avLst>
              <a:gd name="adj" fmla="val 10623"/>
            </a:avLst>
          </a:prstGeom>
          <a:solidFill>
            <a:schemeClr val="bg1"/>
          </a:solidFill>
          <a:ln w="12700">
            <a:solidFill>
              <a:srgbClr val="0F1B2D"/>
            </a:solidFill>
            <a:prstDash val="solid"/>
          </a:ln>
        </p:spPr>
        <p:txBody>
          <a:bodyPr wrap="square" lIns="26712" tIns="153712" rIns="26712" bIns="128312" rtlCol="0" anchor="t">
            <a:normAutofit/>
          </a:bodyPr>
          <a:lstStyle/>
          <a:p>
            <a:pPr marL="0" indent="0" algn="ctr">
              <a:lnSpc>
                <a:spcPts val="2100"/>
              </a:lnSpc>
              <a:buNone/>
            </a:pPr>
            <a:r>
              <a:rPr lang="en-US" sz="1500" b="1" dirty="0">
                <a:solidFill>
                  <a:srgbClr val="0F1B2D"/>
                </a:solidFill>
                <a:latin typeface="Arial" pitchFamily="34" charset="0"/>
                <a:ea typeface="Arial" pitchFamily="34" charset="-122"/>
                <a:cs typeface="Arial" pitchFamily="34" charset="-120"/>
              </a:rPr>
              <a:t>Processed Image</a:t>
            </a:r>
            <a:endParaRPr lang="en-US" sz="1500" dirty="0"/>
          </a:p>
        </p:txBody>
      </p:sp>
      <p:sp>
        <p:nvSpPr>
          <p:cNvPr id="12" name="Shape 6"/>
          <p:cNvSpPr/>
          <p:nvPr/>
        </p:nvSpPr>
        <p:spPr>
          <a:xfrm>
            <a:off x="819150" y="2739389"/>
            <a:ext cx="6101556" cy="3299460"/>
          </a:xfrm>
          <a:prstGeom prst="roundRect">
            <a:avLst>
              <a:gd name="adj" fmla="val 4426"/>
            </a:avLst>
          </a:prstGeom>
          <a:solidFill>
            <a:schemeClr val="bg1"/>
          </a:solidFill>
          <a:ln w="12700">
            <a:solidFill>
              <a:schemeClr val="bg1"/>
            </a:solidFill>
            <a:prstDash val="solid"/>
          </a:ln>
        </p:spPr>
      </p:sp>
      <p:sp>
        <p:nvSpPr>
          <p:cNvPr id="13" name="Text 7"/>
          <p:cNvSpPr/>
          <p:nvPr/>
        </p:nvSpPr>
        <p:spPr>
          <a:xfrm>
            <a:off x="1102360" y="3022600"/>
            <a:ext cx="5701190" cy="299720"/>
          </a:xfrm>
          <a:prstGeom prst="rect">
            <a:avLst/>
          </a:prstGeom>
          <a:noFill/>
          <a:ln/>
        </p:spPr>
        <p:txBody>
          <a:bodyPr wrap="square" lIns="0" tIns="0" rIns="0" bIns="0" rtlCol="0" anchor="t">
            <a:normAutofit/>
          </a:bodyPr>
          <a:lstStyle/>
          <a:p>
            <a:pPr marL="0" indent="0" algn="l">
              <a:lnSpc>
                <a:spcPts val="2160"/>
              </a:lnSpc>
              <a:buNone/>
            </a:pPr>
            <a:r>
              <a:rPr lang="en-US" sz="1800" b="1" dirty="0">
                <a:latin typeface="Arial" pitchFamily="34" charset="0"/>
                <a:ea typeface="Arial" pitchFamily="34" charset="-122"/>
                <a:cs typeface="Arial" pitchFamily="34" charset="-120"/>
              </a:rPr>
              <a:t>Example</a:t>
            </a:r>
            <a:endParaRPr lang="en-US" sz="1800" dirty="0"/>
          </a:p>
        </p:txBody>
      </p:sp>
      <p:sp>
        <p:nvSpPr>
          <p:cNvPr id="14" name="Text 8"/>
          <p:cNvSpPr/>
          <p:nvPr/>
        </p:nvSpPr>
        <p:spPr>
          <a:xfrm>
            <a:off x="1102360" y="3423921"/>
            <a:ext cx="5701190" cy="9093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2D3A4F"/>
                </a:solidFill>
                <a:latin typeface="Arial" pitchFamily="34" charset="0"/>
                <a:ea typeface="Arial" pitchFamily="34" charset="-122"/>
                <a:cs typeface="Arial" pitchFamily="34" charset="-120"/>
              </a:rPr>
              <a:t>When a user uploads an image, the upload event triggers an AWS Lambda function. The function can automatically resize or process the image and store the result.</a:t>
            </a:r>
            <a:endParaRPr lang="en-US" sz="1600" dirty="0"/>
          </a:p>
        </p:txBody>
      </p:sp>
      <p:sp>
        <p:nvSpPr>
          <p:cNvPr id="15" name="Shape 9"/>
          <p:cNvSpPr/>
          <p:nvPr/>
        </p:nvSpPr>
        <p:spPr>
          <a:xfrm>
            <a:off x="7130256" y="2733039"/>
            <a:ext cx="4248944" cy="3312160"/>
          </a:xfrm>
          <a:prstGeom prst="roundRect">
            <a:avLst>
              <a:gd name="adj" fmla="val 4601"/>
            </a:avLst>
          </a:prstGeom>
          <a:solidFill>
            <a:schemeClr val="bg1"/>
          </a:solidFill>
          <a:ln/>
        </p:spPr>
      </p:sp>
      <p:sp>
        <p:nvSpPr>
          <p:cNvPr id="16" name="Text 10"/>
          <p:cNvSpPr/>
          <p:nvPr/>
        </p:nvSpPr>
        <p:spPr>
          <a:xfrm>
            <a:off x="7409656" y="3012439"/>
            <a:ext cx="3800848" cy="299720"/>
          </a:xfrm>
          <a:prstGeom prst="rect">
            <a:avLst/>
          </a:prstGeom>
          <a:noFill/>
          <a:ln/>
        </p:spPr>
        <p:txBody>
          <a:bodyPr wrap="square" lIns="0" tIns="0" rIns="0" bIns="0" rtlCol="0" anchor="t">
            <a:normAutofit/>
          </a:bodyPr>
          <a:lstStyle/>
          <a:p>
            <a:pPr marL="0" indent="0" algn="l">
              <a:lnSpc>
                <a:spcPts val="2160"/>
              </a:lnSpc>
              <a:buNone/>
            </a:pPr>
            <a:r>
              <a:rPr lang="en-US" sz="1800" b="1" dirty="0">
                <a:latin typeface="Arial" pitchFamily="34" charset="0"/>
                <a:ea typeface="Arial" pitchFamily="34" charset="-122"/>
                <a:cs typeface="Arial" pitchFamily="34" charset="-120"/>
              </a:rPr>
              <a:t>Technologies</a:t>
            </a:r>
            <a:endParaRPr lang="en-US" sz="1800" dirty="0"/>
          </a:p>
        </p:txBody>
      </p:sp>
      <p:sp>
        <p:nvSpPr>
          <p:cNvPr id="17" name="Text 11"/>
          <p:cNvSpPr/>
          <p:nvPr/>
        </p:nvSpPr>
        <p:spPr>
          <a:xfrm>
            <a:off x="7409656" y="3413761"/>
            <a:ext cx="3800848" cy="327660"/>
          </a:xfrm>
          <a:prstGeom prst="rect">
            <a:avLst/>
          </a:prstGeom>
          <a:noFill/>
          <a:ln/>
        </p:spPr>
        <p:txBody>
          <a:bodyPr wrap="square" lIns="0" tIns="0" rIns="0" bIns="0" rtlCol="0" anchor="t">
            <a:normAutofit/>
          </a:bodyPr>
          <a:lstStyle/>
          <a:p>
            <a:pPr marL="0" indent="0" algn="l">
              <a:lnSpc>
                <a:spcPts val="2380"/>
              </a:lnSpc>
              <a:buNone/>
            </a:pPr>
            <a:r>
              <a:rPr lang="en-US" sz="1700" dirty="0">
                <a:latin typeface="Arial" pitchFamily="34" charset="0"/>
                <a:ea typeface="Arial" pitchFamily="34" charset="-122"/>
                <a:cs typeface="Arial" pitchFamily="34" charset="-120"/>
              </a:rPr>
              <a:t>Amazon S3</a:t>
            </a:r>
            <a:endParaRPr lang="en-US" sz="1700" dirty="0"/>
          </a:p>
        </p:txBody>
      </p:sp>
      <p:sp>
        <p:nvSpPr>
          <p:cNvPr id="18" name="Text 12"/>
          <p:cNvSpPr/>
          <p:nvPr/>
        </p:nvSpPr>
        <p:spPr>
          <a:xfrm>
            <a:off x="7409656" y="3843021"/>
            <a:ext cx="3800848" cy="327660"/>
          </a:xfrm>
          <a:prstGeom prst="rect">
            <a:avLst/>
          </a:prstGeom>
          <a:noFill/>
          <a:ln/>
        </p:spPr>
        <p:txBody>
          <a:bodyPr wrap="square" lIns="0" tIns="0" rIns="0" bIns="0" rtlCol="0" anchor="t">
            <a:normAutofit/>
          </a:bodyPr>
          <a:lstStyle/>
          <a:p>
            <a:pPr marL="0" indent="0" algn="l">
              <a:lnSpc>
                <a:spcPts val="2380"/>
              </a:lnSpc>
              <a:buNone/>
            </a:pPr>
            <a:r>
              <a:rPr lang="en-US" sz="1700" dirty="0">
                <a:latin typeface="Arial" pitchFamily="34" charset="0"/>
                <a:ea typeface="Arial" pitchFamily="34" charset="-122"/>
                <a:cs typeface="Arial" pitchFamily="34" charset="-120"/>
              </a:rPr>
              <a:t>AWS Lambda</a:t>
            </a:r>
            <a:endParaRPr lang="en-US" sz="1700" dirty="0"/>
          </a:p>
        </p:txBody>
      </p:sp>
      <p:sp>
        <p:nvSpPr>
          <p:cNvPr id="19" name="Text 13"/>
          <p:cNvSpPr/>
          <p:nvPr/>
        </p:nvSpPr>
        <p:spPr>
          <a:xfrm>
            <a:off x="7409656" y="4272282"/>
            <a:ext cx="3800848" cy="327660"/>
          </a:xfrm>
          <a:prstGeom prst="rect">
            <a:avLst/>
          </a:prstGeom>
          <a:noFill/>
          <a:ln/>
        </p:spPr>
        <p:txBody>
          <a:bodyPr wrap="square" lIns="0" tIns="0" rIns="0" bIns="0" rtlCol="0" anchor="t">
            <a:normAutofit/>
          </a:bodyPr>
          <a:lstStyle/>
          <a:p>
            <a:pPr marL="0" indent="0" algn="l">
              <a:lnSpc>
                <a:spcPts val="2380"/>
              </a:lnSpc>
              <a:buNone/>
            </a:pPr>
            <a:r>
              <a:rPr lang="en-US" sz="1700" dirty="0">
                <a:latin typeface="Arial" pitchFamily="34" charset="0"/>
                <a:ea typeface="Arial" pitchFamily="34" charset="-122"/>
                <a:cs typeface="Arial" pitchFamily="34" charset="-120"/>
              </a:rPr>
              <a:t>API Gateway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Arial" pitchFamily="34" charset="0"/>
                <a:ea typeface="Arial" pitchFamily="34" charset="-122"/>
                <a:cs typeface="Arial" pitchFamily="34" charset="-120"/>
              </a:rPr>
              <a:t>Conclusion</a:t>
            </a:r>
            <a:endParaRPr lang="en-US" sz="3600" dirty="0"/>
          </a:p>
        </p:txBody>
      </p:sp>
      <p:sp>
        <p:nvSpPr>
          <p:cNvPr id="3" name="Text 1"/>
          <p:cNvSpPr/>
          <p:nvPr/>
        </p:nvSpPr>
        <p:spPr>
          <a:xfrm>
            <a:off x="589015" y="2310015"/>
            <a:ext cx="4880864" cy="2725758"/>
          </a:xfrm>
          <a:prstGeom prst="rect">
            <a:avLst/>
          </a:prstGeom>
          <a:solidFill>
            <a:schemeClr val="bg1"/>
          </a:solidFill>
          <a:ln/>
        </p:spPr>
        <p:txBody>
          <a:bodyPr wrap="square" lIns="0" tIns="0" rIns="0" bIns="0" rtlCol="0" anchor="t">
            <a:noAutofit/>
          </a:bodyPr>
          <a:lstStyle/>
          <a:p>
            <a:pPr marL="197866" indent="-197866">
              <a:lnSpc>
                <a:spcPct val="125000"/>
              </a:lnSpc>
              <a:buSzPct val="100000"/>
              <a:buChar char="•"/>
            </a:pPr>
            <a:r>
              <a:rPr lang="en-US" sz="2000" dirty="0">
                <a:solidFill>
                  <a:srgbClr val="2D3A4F"/>
                </a:solidFill>
                <a:latin typeface="Arial" pitchFamily="34" charset="0"/>
                <a:ea typeface="Arial" pitchFamily="34" charset="-122"/>
                <a:cs typeface="Arial" pitchFamily="34" charset="-120"/>
              </a:rPr>
              <a:t>Serverless computing eliminates the need for developers to manage servers.</a:t>
            </a:r>
            <a:endParaRPr lang="en-US" sz="2000" dirty="0"/>
          </a:p>
          <a:p>
            <a:pPr marL="197866" indent="-197866">
              <a:lnSpc>
                <a:spcPct val="125000"/>
              </a:lnSpc>
              <a:buSzPct val="100000"/>
              <a:buChar char="•"/>
            </a:pPr>
            <a:r>
              <a:rPr lang="en-US" sz="2000" dirty="0">
                <a:solidFill>
                  <a:srgbClr val="2D3A4F"/>
                </a:solidFill>
                <a:latin typeface="Arial" pitchFamily="34" charset="0"/>
                <a:ea typeface="Arial" pitchFamily="34" charset="-122"/>
                <a:cs typeface="Arial" pitchFamily="34" charset="-120"/>
              </a:rPr>
              <a:t>It provides automatic scaling and efficient resource usage.</a:t>
            </a:r>
            <a:endParaRPr lang="en-US" sz="2000" dirty="0"/>
          </a:p>
          <a:p>
            <a:pPr marL="197866" indent="-197866">
              <a:lnSpc>
                <a:spcPct val="125000"/>
              </a:lnSpc>
              <a:buSzPct val="100000"/>
              <a:buChar char="•"/>
            </a:pPr>
            <a:r>
              <a:rPr lang="en-US" sz="2000" dirty="0">
                <a:solidFill>
                  <a:srgbClr val="2D3A4F"/>
                </a:solidFill>
                <a:latin typeface="Arial" pitchFamily="34" charset="0"/>
                <a:ea typeface="Arial" pitchFamily="34" charset="-122"/>
                <a:cs typeface="Arial" pitchFamily="34" charset="-120"/>
              </a:rPr>
              <a:t>It supports faster application development.</a:t>
            </a:r>
            <a:endParaRPr lang="en-US" sz="2000" dirty="0"/>
          </a:p>
          <a:p>
            <a:pPr marL="197866" indent="-197866">
              <a:lnSpc>
                <a:spcPct val="125000"/>
              </a:lnSpc>
              <a:buSzPct val="100000"/>
              <a:buChar char="•"/>
            </a:pPr>
            <a:r>
              <a:rPr lang="en-US" sz="2000" dirty="0">
                <a:solidFill>
                  <a:srgbClr val="2D3A4F"/>
                </a:solidFill>
                <a:latin typeface="Arial" pitchFamily="34" charset="0"/>
                <a:ea typeface="Arial" pitchFamily="34" charset="-122"/>
                <a:cs typeface="Arial" pitchFamily="34" charset="-120"/>
              </a:rPr>
              <a:t>It is useful for event-driven and cloud-based applications.</a:t>
            </a:r>
            <a:endParaRPr lang="en-US" sz="2000" dirty="0"/>
          </a:p>
        </p:txBody>
      </p:sp>
      <p:sp>
        <p:nvSpPr>
          <p:cNvPr id="4" name="Shape 2"/>
          <p:cNvSpPr/>
          <p:nvPr/>
        </p:nvSpPr>
        <p:spPr>
          <a:xfrm>
            <a:off x="5867400" y="1620521"/>
            <a:ext cx="5511800" cy="4424680"/>
          </a:xfrm>
          <a:prstGeom prst="roundRect">
            <a:avLst>
              <a:gd name="adj" fmla="val 3444"/>
            </a:avLst>
          </a:prstGeom>
          <a:solidFill>
            <a:schemeClr val="accent3">
              <a:lumMod val="20000"/>
              <a:lumOff val="80000"/>
            </a:schemeClr>
          </a:solidFill>
          <a:ln/>
        </p:spPr>
      </p:sp>
      <p:sp>
        <p:nvSpPr>
          <p:cNvPr id="5" name="Text 3"/>
          <p:cNvSpPr/>
          <p:nvPr/>
        </p:nvSpPr>
        <p:spPr>
          <a:xfrm>
            <a:off x="6223000" y="2887982"/>
            <a:ext cx="49446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Arial" pitchFamily="34" charset="0"/>
                <a:ea typeface="Arial" pitchFamily="34" charset="-122"/>
                <a:cs typeface="Arial" pitchFamily="34" charset="-120"/>
              </a:rPr>
              <a:t>Key takeaway</a:t>
            </a:r>
            <a:endParaRPr lang="en-US" sz="1800" dirty="0"/>
          </a:p>
        </p:txBody>
      </p:sp>
      <p:sp>
        <p:nvSpPr>
          <p:cNvPr id="6" name="Text 4"/>
          <p:cNvSpPr/>
          <p:nvPr/>
        </p:nvSpPr>
        <p:spPr>
          <a:xfrm>
            <a:off x="6223000" y="3314700"/>
            <a:ext cx="4944618" cy="148844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0F1B2D"/>
                </a:solidFill>
                <a:latin typeface="Arial" pitchFamily="34" charset="0"/>
                <a:ea typeface="Arial" pitchFamily="34" charset="-122"/>
                <a:cs typeface="Arial" pitchFamily="34" charset="-120"/>
              </a:rPr>
              <a:t>Serverless does not mean there are no servers; it means the cloud provider manages the servers for you.</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EAF98-4E3A-4D9F-B631-29A96EA0A9FC}"/>
              </a:ext>
            </a:extLst>
          </p:cNvPr>
          <p:cNvSpPr>
            <a:spLocks noGrp="1"/>
          </p:cNvSpPr>
          <p:nvPr>
            <p:ph type="title"/>
          </p:nvPr>
        </p:nvSpPr>
        <p:spPr>
          <a:xfrm>
            <a:off x="672841" y="2454987"/>
            <a:ext cx="10566400" cy="1482531"/>
          </a:xfrm>
        </p:spPr>
        <p:txBody>
          <a:bodyPr>
            <a:noAutofit/>
          </a:bodyPr>
          <a:lstStyle/>
          <a:p>
            <a:pPr algn="ctr"/>
            <a:r>
              <a:rPr lang="en-IN" sz="7800" dirty="0">
                <a:latin typeface="Arial Rounded MT Bold" panose="020F0704030504030204" pitchFamily="34" charset="0"/>
              </a:rPr>
              <a:t>Thank You</a:t>
            </a:r>
          </a:p>
        </p:txBody>
      </p:sp>
    </p:spTree>
    <p:extLst>
      <p:ext uri="{BB962C8B-B14F-4D97-AF65-F5344CB8AC3E}">
        <p14:creationId xmlns:p14="http://schemas.microsoft.com/office/powerpoint/2010/main" val="1944425975"/>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Helena</Template>
  <TotalTime>26</TotalTime>
  <Words>688</Words>
  <Application>Microsoft Office PowerPoint</Application>
  <PresentationFormat>Widescreen</PresentationFormat>
  <Paragraphs>103</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Rounded MT Bold</vt:lpstr>
      <vt:lpstr>Neue Haas Grotesk Text Pro</vt:lpstr>
      <vt:lpstr>Helena</vt:lpstr>
      <vt:lpstr>Serverless Computing – Reducing Infrastructure Management in the Cloud</vt:lpstr>
      <vt:lpstr>What is serverless computing?</vt:lpstr>
      <vt:lpstr>How serverless computing works</vt:lpstr>
      <vt:lpstr>Serverless architecture</vt:lpstr>
      <vt:lpstr>Advantages of serverless computing</vt:lpstr>
      <vt:lpstr>Industry Relevance</vt:lpstr>
      <vt:lpstr>Practical example: AWS Lambda</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Computing</dc:title>
  <dc:subject/>
  <dc:creator>Chodam Nisha</dc:creator>
  <cp:lastModifiedBy>Chodam Nisha</cp:lastModifiedBy>
  <cp:revision>3</cp:revision>
  <dcterms:created xsi:type="dcterms:W3CDTF">2026-10-08T18:13:36Z</dcterms:created>
  <dcterms:modified xsi:type="dcterms:W3CDTF">2026-10-08T18:40:36Z</dcterms:modified>
</cp:coreProperties>
</file>